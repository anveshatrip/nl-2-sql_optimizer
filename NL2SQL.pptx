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8288000" cy="10287000"/>
  <p:notesSz cx="6858000" cy="9144000"/>
  <p:embeddedFontLst>
    <p:embeddedFont>
      <p:font typeface="Libre Baskerville" panose="02000000000000000000" pitchFamily="2" charset="0"/>
      <p:regular r:id="rId7"/>
      <p:bold r:id="rId8"/>
    </p:embeddedFont>
    <p:embeddedFont>
      <p:font typeface="Yeseva One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845" y="1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61020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6137">
            <a:off x="-1277219" y="5897732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BigTitle"/>
          <p:cNvSpPr txBox="1"/>
          <p:nvPr/>
        </p:nvSpPr>
        <p:spPr>
          <a:xfrm>
            <a:off x="0" y="2286000"/>
            <a:ext cx="182880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 dirty="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SQL Query Optimizer for Text-to-SQL Systems</a:t>
            </a:r>
          </a:p>
        </p:txBody>
      </p:sp>
      <p:sp>
        <p:nvSpPr>
          <p:cNvPr id="9" name="Header"/>
          <p:cNvSpPr txBox="1"/>
          <p:nvPr/>
        </p:nvSpPr>
        <p:spPr>
          <a:xfrm>
            <a:off x="3283182" y="1089025"/>
            <a:ext cx="1172163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NL2SQL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61020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6137">
            <a:off x="-1277219" y="5897732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Title"/>
          <p:cNvSpPr txBox="1"/>
          <p:nvPr/>
        </p:nvSpPr>
        <p:spPr>
          <a:xfrm>
            <a:off x="1371600" y="1500000"/>
            <a:ext cx="15400800" cy="1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0"/>
              </a:lnSpc>
            </a:pPr>
            <a:r>
              <a:rPr lang="en-US" sz="906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Problem Statement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1000700" y="4048901"/>
            <a:ext cx="16286600" cy="340000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en-US" sz="2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NL-to-SQL tools generate SQL but provide no feedback on query efficiency. Non-technical users such as analysts, students, and administrators may receive syntactically correct queries that are operationally disastrous. This could be full table scans on million-row tables, Cartesian products, or missing index usage, with no indication that anything is wrong.</a:t>
            </a:r>
          </a:p>
          <a:p>
            <a:pPr algn="l">
              <a:lnSpc>
                <a:spcPts val="2800"/>
              </a:lnSpc>
              <a:spcBef>
                <a:spcPts val="1200"/>
              </a:spcBef>
            </a:pPr>
            <a:r>
              <a:rPr lang="en-US" sz="2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This system bridges that gap by translating natural language to SQL, then automatically analyzing the generated query's execution plan, detecting performance anti-patterns, and producing an optimized rewrite with a measurable before/after cost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61020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6137">
            <a:off x="-1277219" y="5897732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Title"/>
          <p:cNvSpPr txBox="1"/>
          <p:nvPr/>
        </p:nvSpPr>
        <p:spPr>
          <a:xfrm>
            <a:off x="1443600" y="2252114"/>
            <a:ext cx="154008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Hardware Requirements</a:t>
            </a:r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39359"/>
              </p:ext>
            </p:extLst>
          </p:nvPr>
        </p:nvGraphicFramePr>
        <p:xfrm>
          <a:off x="1600200" y="4150098"/>
          <a:ext cx="15400800" cy="40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0000">
                <a:tc>
                  <a:txBody>
                    <a:bodyPr/>
                    <a:lstStyle/>
                    <a:p>
                      <a:r>
                        <a:rPr lang="en-US" sz="2200" b="1">
                          <a:solidFill>
                            <a:srgbClr val="000000"/>
                          </a:solidFill>
                          <a:latin typeface="Libre Baskerville"/>
                        </a:rPr>
                        <a:t>Component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C8BF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Libre Baskerville"/>
                        </a:rPr>
                        <a:t>Minimum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C8B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RAM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8 GB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CPU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4 cores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Disk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5 GB free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OS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Windows 10 / macOS 12 / Ubuntu 20.04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000">
                <a:tc>
                  <a:txBody>
                    <a:bodyPr/>
                    <a:lstStyle/>
                    <a:p>
                      <a:r>
                        <a:rPr lang="en-US" sz="2200">
                          <a:solidFill>
                            <a:srgbClr val="000000"/>
                          </a:solidFill>
                          <a:latin typeface="Libre Baskerville"/>
                        </a:rPr>
                        <a:t>Internet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000000"/>
                          </a:solidFill>
                          <a:latin typeface="Libre Baskerville"/>
                        </a:rPr>
                        <a:t>Required (Gemini API calls)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61020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6137">
            <a:off x="-1277219" y="5897732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Title"/>
          <p:cNvSpPr txBox="1"/>
          <p:nvPr/>
        </p:nvSpPr>
        <p:spPr>
          <a:xfrm>
            <a:off x="1371600" y="1300000"/>
            <a:ext cx="15400800" cy="10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Software Requirements</a:t>
            </a:r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297595"/>
              </p:ext>
            </p:extLst>
          </p:nvPr>
        </p:nvGraphicFramePr>
        <p:xfrm>
          <a:off x="1371600" y="2743098"/>
          <a:ext cx="15400800" cy="60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latin typeface="Libre Baskerville"/>
                        </a:rPr>
                        <a:t>Category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C8BF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latin typeface="Libre Baskerville"/>
                        </a:rPr>
                        <a:t>Tool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C8B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Containerization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Docker Desktop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Database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PostgreSQL (via Docker)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Backend runtime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Python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Backend framework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FastAPI + Uvicorn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DB driver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psycopg2 + SQLAlchemy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LLM SDK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google-generativeai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Frontend runtime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Node.js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Frontend framework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React + Vite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Styling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Tailwind CSS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Data viz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Recharts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API client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Axios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Environment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python-dotenv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latin typeface="Libre Baskerville"/>
                        </a:rPr>
                        <a:t>Validation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Libre Baskerville"/>
                        </a:rPr>
                        <a:t>Pydantic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Libre Baskerville"/>
                        </a:rPr>
                        <a:t> v2</a:t>
                      </a:r>
                    </a:p>
                  </a:txBody>
                  <a:tcPr>
                    <a:lnL w="9525">
                      <a:solidFill>
                        <a:srgbClr val="A09080"/>
                      </a:solidFill>
                    </a:lnL>
                    <a:lnR w="9525">
                      <a:solidFill>
                        <a:srgbClr val="A09080"/>
                      </a:solidFill>
                    </a:lnR>
                    <a:lnT w="9525">
                      <a:solidFill>
                        <a:srgbClr val="A09080"/>
                      </a:solidFill>
                    </a:lnT>
                    <a:lnB w="9525">
                      <a:solidFill>
                        <a:srgbClr val="A09080"/>
                      </a:solidFill>
                    </a:lnB>
                    <a:solidFill>
                      <a:srgbClr val="ED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610204" y="-571500"/>
            <a:ext cx="6626483" cy="5715000"/>
          </a:xfrm>
          <a:custGeom>
            <a:avLst/>
            <a:gdLst/>
            <a:ahLst/>
            <a:cxnLst/>
            <a:rect l="l" t="t" r="r" b="b"/>
            <a:pathLst>
              <a:path w="6626483" h="5715000">
                <a:moveTo>
                  <a:pt x="0" y="0"/>
                </a:moveTo>
                <a:lnTo>
                  <a:pt x="6626483" y="0"/>
                </a:lnTo>
                <a:lnTo>
                  <a:pt x="6626483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6137">
            <a:off x="-1277219" y="5897732"/>
            <a:ext cx="5210769" cy="6721137"/>
          </a:xfrm>
          <a:custGeom>
            <a:avLst/>
            <a:gdLst/>
            <a:ahLst/>
            <a:cxnLst/>
            <a:rect l="l" t="t" r="r" b="b"/>
            <a:pathLst>
              <a:path w="5210769" h="6721137">
                <a:moveTo>
                  <a:pt x="0" y="0"/>
                </a:moveTo>
                <a:lnTo>
                  <a:pt x="5210769" y="0"/>
                </a:lnTo>
                <a:lnTo>
                  <a:pt x="5210769" y="6721136"/>
                </a:lnTo>
                <a:lnTo>
                  <a:pt x="0" y="6721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569636">
            <a:off x="779619" y="-2269556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755510">
            <a:off x="14637629" y="5499669"/>
            <a:ext cx="4096053" cy="7060062"/>
          </a:xfrm>
          <a:custGeom>
            <a:avLst/>
            <a:gdLst/>
            <a:ahLst/>
            <a:cxnLst/>
            <a:rect l="l" t="t" r="r" b="b"/>
            <a:pathLst>
              <a:path w="4096053" h="7060062">
                <a:moveTo>
                  <a:pt x="0" y="0"/>
                </a:moveTo>
                <a:lnTo>
                  <a:pt x="4096053" y="0"/>
                </a:lnTo>
                <a:lnTo>
                  <a:pt x="4096053" y="7060062"/>
                </a:lnTo>
                <a:lnTo>
                  <a:pt x="0" y="7060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Title"/>
          <p:cNvSpPr txBox="1"/>
          <p:nvPr/>
        </p:nvSpPr>
        <p:spPr>
          <a:xfrm>
            <a:off x="1371600" y="1400000"/>
            <a:ext cx="15544800" cy="100000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Yeseva One"/>
                <a:ea typeface="Yeseva One"/>
                <a:cs typeface="Yeseva One"/>
                <a:sym typeface="Yeseva One"/>
              </a:rPr>
              <a:t>System Architecture</a:t>
            </a:r>
          </a:p>
        </p:txBody>
      </p:sp>
      <p:pic>
        <p:nvPicPr>
          <p:cNvPr id="9" name="Arch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11" y="2710975"/>
            <a:ext cx="17648960" cy="551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192</Words>
  <Application>Microsoft Office PowerPoint</Application>
  <PresentationFormat>Custom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Yeseva One</vt:lpstr>
      <vt:lpstr>Libre Baskerville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Sand Minimalist Modern Thesis Defense Presentation</dc:title>
  <cp:lastModifiedBy>Anvesha Tripathi</cp:lastModifiedBy>
  <cp:revision>2</cp:revision>
  <dcterms:created xsi:type="dcterms:W3CDTF">2006-08-16T00:00:00Z</dcterms:created>
  <dcterms:modified xsi:type="dcterms:W3CDTF">2026-08-25T07:11:22Z</dcterms:modified>
  <dc:identifier>DAHSjoITCk8</dc:identifier>
</cp:coreProperties>
</file>